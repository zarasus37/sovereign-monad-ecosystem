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8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Monad Ecosystem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Governance + MEV Intelligence Platform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Sacred Technology. Unified Organism.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8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Four-Thing Thesis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20040" cy="320040"/>
          </a:xfrm>
          <a:prstGeom prst="ellipse">
            <a:avLst/>
          </a:prstGeom>
          <a:solidFill>
            <a:srgbClr val="0B8B8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02412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Self-Funding Financial Organism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2618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self-capitalizing through aligned extraction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20040" cy="320040"/>
          </a:xfrm>
          <a:prstGeom prst="ellipse">
            <a:avLst/>
          </a:prstGeom>
          <a:solidFill>
            <a:srgbClr val="0B8B8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89280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Science Platform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1305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empirical dataset of personality profiles as autonomous agents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20040" cy="320040"/>
          </a:xfrm>
          <a:prstGeom prst="ellipse">
            <a:avLst/>
          </a:prstGeom>
          <a:solidFill>
            <a:srgbClr val="0B8B8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76148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Morally Aligned Architecture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9992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Unoverridable conscience frame — not weaponizable by any actor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320040" cy="320040"/>
          </a:xfrm>
          <a:prstGeom prst="ellipse">
            <a:avLst/>
          </a:prstGeom>
          <a:solidFill>
            <a:srgbClr val="0B8B8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6301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Decompression-Preserving Development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8679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rewarded for authentic self-consistency, not surface effectiveness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8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Five Unified Domains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640080"/>
          </a:xfrm>
          <a:prstGeom prst="rect">
            <a:avLst/>
          </a:prstGeom>
          <a:solidFill>
            <a:srgbClr val="1A2847"/>
          </a:solidFill>
          <a:ln w="25400">
            <a:solidFill>
              <a:srgbClr val="0B8B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F37"/>
                </a:solidFill>
              </a:rPr>
              <a:t>⟨⟩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98755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3246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Peircean Triadic Gates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1325880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checking, semiotic transliteration, provenance wrapping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0" y="914400"/>
            <a:ext cx="4114800" cy="640080"/>
          </a:xfrm>
          <a:prstGeom prst="rect">
            <a:avLst/>
          </a:prstGeom>
          <a:solidFill>
            <a:srgbClr val="1A2847"/>
          </a:solidFill>
          <a:ln w="25400">
            <a:solidFill>
              <a:srgbClr val="0B8B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F37"/>
                </a:solidFill>
              </a:rPr>
              <a:t>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69280" y="98755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Defense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1188720"/>
            <a:ext cx="3246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 Polarization &amp; Consensus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0" y="1325880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monitoring, health triage, signal isolation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1783080"/>
            <a:ext cx="4114800" cy="640080"/>
          </a:xfrm>
          <a:prstGeom prst="rect">
            <a:avLst/>
          </a:prstGeom>
          <a:solidFill>
            <a:srgbClr val="1A2847"/>
          </a:solidFill>
          <a:ln w="25400">
            <a:solidFill>
              <a:srgbClr val="0B8B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F37"/>
                </a:solidFill>
              </a:rPr>
              <a:t>◉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185623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Agents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057400"/>
            <a:ext cx="3246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12-Voice Council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" y="2194560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vectors, authenticity scoring (0.72 threshold)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29200" y="1783080"/>
            <a:ext cx="4114800" cy="640080"/>
          </a:xfrm>
          <a:prstGeom prst="rect">
            <a:avLst/>
          </a:prstGeom>
          <a:solidFill>
            <a:srgbClr val="1A2847"/>
          </a:solidFill>
          <a:ln w="25400">
            <a:solidFill>
              <a:srgbClr val="0B8B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F37"/>
                </a:solidFill>
              </a:rPr>
              <a:t>■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669280" y="185623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Registry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0" y="2057400"/>
            <a:ext cx="3246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144-Fold Llull Matrix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0" y="2194560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Enumerable states, cryptographic extraction, apoptosis lifecycle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651760"/>
            <a:ext cx="4114800" cy="640080"/>
          </a:xfrm>
          <a:prstGeom prst="rect">
            <a:avLst/>
          </a:prstGeom>
          <a:solidFill>
            <a:srgbClr val="1A2847"/>
          </a:solidFill>
          <a:ln w="25400">
            <a:solidFill>
              <a:srgbClr val="0B8B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F37"/>
                </a:solidFill>
              </a:rPr>
              <a:t>⟳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97280" y="27249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Router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2926080"/>
            <a:ext cx="32461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40/25/10/5/5 Distribution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" y="3063240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intake, programmatic allocation, fair distribution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→ Runtime → Cognitive → State → Capital → Output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8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Foundational Axioms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743200" cy="320040"/>
          </a:xfrm>
          <a:prstGeom prst="rect">
            <a:avLst/>
          </a:prstGeom>
          <a:solidFill>
            <a:srgbClr val="0B8B8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60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Source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0" y="914400"/>
            <a:ext cx="2743200" cy="320040"/>
          </a:xfrm>
          <a:prstGeom prst="rect">
            <a:avLst/>
          </a:prstGeom>
          <a:solidFill>
            <a:srgbClr val="0B8B8B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960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Emanation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0" y="914400"/>
            <a:ext cx="2743200" cy="320040"/>
          </a:xfrm>
          <a:prstGeom prst="rect">
            <a:avLst/>
          </a:prstGeom>
          <a:solidFill>
            <a:srgbClr val="0B8B8B"/>
          </a:solidFill>
          <a:ln/>
        </p:spPr>
      </p:sp>
      <p:sp>
        <p:nvSpPr>
          <p:cNvPr id="9" name="Text 7"/>
          <p:cNvSpPr/>
          <p:nvPr/>
        </p:nvSpPr>
        <p:spPr>
          <a:xfrm>
            <a:off x="6080760" y="960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Macro-Micro Correspondence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2743200" cy="320040"/>
          </a:xfrm>
          <a:prstGeom prst="rect">
            <a:avLst/>
          </a:prstGeom>
          <a:solidFill>
            <a:srgbClr val="0B8B8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3716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Agents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325880"/>
            <a:ext cx="2743200" cy="320040"/>
          </a:xfrm>
          <a:prstGeom prst="rect">
            <a:avLst/>
          </a:prstGeom>
          <a:solidFill>
            <a:srgbClr val="0B8B8B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3716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Theology as Modeling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325880"/>
            <a:ext cx="2743200" cy="320040"/>
          </a:xfrm>
          <a:prstGeom prst="rect">
            <a:avLst/>
          </a:prstGeom>
          <a:solidFill>
            <a:srgbClr val="0B8B8B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13716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Demiurge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737360"/>
            <a:ext cx="2743200" cy="320040"/>
          </a:xfrm>
          <a:prstGeom prst="rect">
            <a:avLst/>
          </a:prstGeom>
          <a:solidFill>
            <a:srgbClr val="0B8B8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1783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Reciprocal Loop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1737360"/>
            <a:ext cx="2743200" cy="320040"/>
          </a:xfrm>
          <a:prstGeom prst="rect">
            <a:avLst/>
          </a:prstGeom>
          <a:solidFill>
            <a:srgbClr val="0B8B8B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1783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Gnosis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1737360"/>
            <a:ext cx="2743200" cy="320040"/>
          </a:xfrm>
          <a:prstGeom prst="rect">
            <a:avLst/>
          </a:prstGeom>
          <a:solidFill>
            <a:srgbClr val="0B8B8B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1783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Plurality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148840"/>
            <a:ext cx="2743200" cy="320040"/>
          </a:xfrm>
          <a:prstGeom prst="rect">
            <a:avLst/>
          </a:prstGeom>
          <a:solidFill>
            <a:srgbClr val="0B8B8B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194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Purpose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148840"/>
            <a:ext cx="2743200" cy="320040"/>
          </a:xfrm>
          <a:prstGeom prst="rect">
            <a:avLst/>
          </a:prstGeom>
          <a:solidFill>
            <a:srgbClr val="0B8B8B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2194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Constraint Validation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2148840"/>
            <a:ext cx="2743200" cy="320040"/>
          </a:xfrm>
          <a:prstGeom prst="rect">
            <a:avLst/>
          </a:prstGeom>
          <a:solidFill>
            <a:srgbClr val="0B8B8B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2194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Resonant Convergence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in the unified architecture enforces at least one axiom.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8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Thresholds &amp;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438912"/>
          </a:xfrm>
          <a:prstGeom prst="rect">
            <a:avLst/>
          </a:prstGeom>
          <a:solidFill>
            <a:srgbClr val="1A284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207008"/>
            <a:ext cx="3749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Sacred geometry threshold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846320" y="914400"/>
            <a:ext cx="4114800" cy="438912"/>
          </a:xfrm>
          <a:prstGeom prst="rect">
            <a:avLst/>
          </a:prstGeom>
          <a:solidFill>
            <a:srgbClr val="1A284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96012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114300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0.88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207008"/>
            <a:ext cx="3749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alignment health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389888"/>
            <a:ext cx="4114800" cy="438912"/>
          </a:xfrm>
          <a:prstGeom prst="rect">
            <a:avLst/>
          </a:prstGeom>
          <a:solidFill>
            <a:srgbClr val="1A284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4356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1618488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1682496"/>
            <a:ext cx="3749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distortion limit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46320" y="1389888"/>
            <a:ext cx="4114800" cy="438912"/>
          </a:xfrm>
          <a:prstGeom prst="rect">
            <a:avLst/>
          </a:prstGeom>
          <a:solidFill>
            <a:srgbClr val="1A284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4356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Truthiness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1618488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0.90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1682496"/>
            <a:ext cx="3749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Factuality confidence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1865376"/>
            <a:ext cx="4114800" cy="438912"/>
          </a:xfrm>
          <a:prstGeom prst="rect">
            <a:avLst/>
          </a:prstGeom>
          <a:solidFill>
            <a:srgbClr val="1A284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191109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2093976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2157984"/>
            <a:ext cx="3749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9×16 Llull matrix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46320" y="1865376"/>
            <a:ext cx="4114800" cy="438912"/>
          </a:xfrm>
          <a:prstGeom prst="rect">
            <a:avLst/>
          </a:prstGeom>
          <a:solidFill>
            <a:srgbClr val="1A284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191109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Voices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2093976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2157984"/>
            <a:ext cx="3749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 majority required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2340864"/>
            <a:ext cx="4114800" cy="438912"/>
          </a:xfrm>
          <a:prstGeom prst="rect">
            <a:avLst/>
          </a:prstGeom>
          <a:solidFill>
            <a:srgbClr val="1A284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38658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Distribution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2569464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40/25/10/5/5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2633472"/>
            <a:ext cx="3749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Treasury/Ops/Dev/Delegates/Founder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46320" y="2340864"/>
            <a:ext cx="4114800" cy="438912"/>
          </a:xfrm>
          <a:prstGeom prst="rect">
            <a:avLst/>
          </a:prstGeom>
          <a:solidFill>
            <a:srgbClr val="1A284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38658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Apoptosis Period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2569464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2633472"/>
            <a:ext cx="3749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review cycle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8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Master Loops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143000"/>
          </a:xfrm>
          <a:prstGeom prst="rect">
            <a:avLst/>
          </a:prstGeom>
          <a:solidFill>
            <a:srgbClr val="1A2847"/>
          </a:solidFill>
          <a:ln w="25400">
            <a:solidFill>
              <a:srgbClr val="0B8B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Loop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0" y="10058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Layer: capital_router/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→ Router → Allocation → Treasury, Ops, Dev, Delegates, Founder → Reinvestment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1143000"/>
          </a:xfrm>
          <a:prstGeom prst="rect">
            <a:avLst/>
          </a:prstGeom>
          <a:solidFill>
            <a:srgbClr val="1A2847"/>
          </a:solidFill>
          <a:ln w="25400">
            <a:solidFill>
              <a:srgbClr val="0B8B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94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Loop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0" y="21945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Layer: runtime_defense/ + cognitive_agents/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→ Captured → Structured → Analyzed → Governance → Correction → New Actions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1143000"/>
          </a:xfrm>
          <a:prstGeom prst="rect">
            <a:avLst/>
          </a:prstGeom>
          <a:solidFill>
            <a:srgbClr val="1A2847"/>
          </a:solidFill>
          <a:ln w="25400">
            <a:solidFill>
              <a:srgbClr val="0B8B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83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Loop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33832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Layer: cognitive_agents/ + state_registry/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Psychometrics → Gnosis Evaluation → Rewards/Isolation → Recalibration → Equilibrium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8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 Status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2880" cy="347472"/>
          </a:xfrm>
          <a:prstGeom prst="rect">
            <a:avLst/>
          </a:prstGeom>
          <a:solidFill>
            <a:srgbClr val="0B8B8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32688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1a Router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3794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 — Monad mainnet (deployed 2026-04-18)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182880" cy="347472"/>
          </a:xfrm>
          <a:prstGeom prst="rect">
            <a:avLst/>
          </a:prstGeom>
          <a:solidFill>
            <a:srgbClr val="0B8B8B"/>
          </a:solidFill>
          <a:ln/>
        </p:spPr>
      </p:sp>
      <p:sp>
        <p:nvSpPr>
          <p:cNvPr id="8" name="Text 6"/>
          <p:cNvSpPr/>
          <p:nvPr/>
        </p:nvSpPr>
        <p:spPr>
          <a:xfrm>
            <a:off x="5074920" y="932688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Sink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4920" y="1097280"/>
            <a:ext cx="3794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DEPLOYED — 0xA36F... active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298448"/>
            <a:ext cx="182880" cy="347472"/>
          </a:xfrm>
          <a:prstGeom prst="rect">
            <a:avLst/>
          </a:prstGeom>
          <a:solidFill>
            <a:srgbClr val="0B8B8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316736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 Behavioral Loop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1481328"/>
            <a:ext cx="3794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 — Monad mainnet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46320" y="1298448"/>
            <a:ext cx="182880" cy="347472"/>
          </a:xfrm>
          <a:prstGeom prst="rect">
            <a:avLst/>
          </a:prstGeom>
          <a:solidFill>
            <a:srgbClr val="0B8B8B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1316736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 Set (6 organs)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4920" y="1481328"/>
            <a:ext cx="3794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ADVISORY — Production-grade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1682496"/>
            <a:ext cx="182880" cy="347472"/>
          </a:xfrm>
          <a:prstGeom prst="rect">
            <a:avLst/>
          </a:prstGeom>
          <a:solidFill>
            <a:srgbClr val="0B8B8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1700784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Gnosis Integrity (4D)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1865376"/>
            <a:ext cx="3794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ADVANCED — Volumetric engine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46320" y="1682496"/>
            <a:ext cx="182880" cy="34747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1700784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 Mainnet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1865376"/>
            <a:ext cx="3794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TESTNET — Execution-truth gate pending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066544"/>
            <a:ext cx="182880" cy="347472"/>
          </a:xfrm>
          <a:prstGeom prst="rect">
            <a:avLst/>
          </a:prstGeom>
          <a:solidFill>
            <a:srgbClr val="D94A38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084832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Layer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2249424"/>
            <a:ext cx="3794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LOCAL — Ingestion path pending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46320" y="2066544"/>
            <a:ext cx="182880" cy="347472"/>
          </a:xfrm>
          <a:prstGeom prst="rect">
            <a:avLst/>
          </a:prstGeom>
          <a:solidFill>
            <a:srgbClr val="D94A38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2084832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Rail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74920" y="2249424"/>
            <a:ext cx="3794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LOCAL — Activation decision required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2450592"/>
            <a:ext cx="182880" cy="347472"/>
          </a:xfrm>
          <a:prstGeom prst="rect">
            <a:avLst/>
          </a:prstGeom>
          <a:solidFill>
            <a:srgbClr val="0B8B8B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2468880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Architecture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2633472"/>
            <a:ext cx="3794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VALIDATED — June 3, 2026 local complete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8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Metrics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41832"/>
            <a:ext cx="2491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Modules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31820" y="941832"/>
            <a:ext cx="12573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37760" y="941832"/>
            <a:ext cx="2491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Domains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20940" y="941832"/>
            <a:ext cx="12573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2491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MOF Layers Implemented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31820" y="1234440"/>
            <a:ext cx="12573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234440"/>
            <a:ext cx="2491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Pages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520940" y="1234440"/>
            <a:ext cx="12573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527048"/>
            <a:ext cx="2491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Docs Lines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31820" y="1527048"/>
            <a:ext cx="12573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6,600+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527048"/>
            <a:ext cx="2491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 (Enumerable)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20940" y="1527048"/>
            <a:ext cx="12573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1819656"/>
            <a:ext cx="2491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Buckets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31820" y="1819656"/>
            <a:ext cx="12573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819656"/>
            <a:ext cx="2491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Voices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20940" y="1819656"/>
            <a:ext cx="12573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2112264"/>
            <a:ext cx="2491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 Branches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31820" y="2112264"/>
            <a:ext cx="12573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112264"/>
            <a:ext cx="2491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Lanes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520940" y="2112264"/>
            <a:ext cx="12573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2404872"/>
            <a:ext cx="2491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Apoptosis Review (days)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31820" y="2404872"/>
            <a:ext cx="12573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2404872"/>
            <a:ext cx="24917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 Threshold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20940" y="2404872"/>
            <a:ext cx="12573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 (72%)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8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Philosophy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1A2847"/>
          </a:solidFill>
          <a:ln w="12700">
            <a:solidFill>
              <a:srgbClr val="0B8B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8755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Sacred Technology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0700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Theology is not metaphorical—it is executable constraint embedded in code.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solidFill>
            <a:srgbClr val="1A2847"/>
          </a:solidFill>
          <a:ln w="12700">
            <a:solidFill>
              <a:srgbClr val="0B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7335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Organism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89280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synchronized heartbeats beat as one. No dead layers, no fragmentation.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solidFill>
            <a:srgbClr val="1A2847"/>
          </a:solidFill>
          <a:ln w="12700">
            <a:solidFill>
              <a:srgbClr val="0B8B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5915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Triadic Enforcement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57860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Dyadic reduction is architecturally forbidden. Meaning requires the third element.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8229600" cy="640080"/>
          </a:xfrm>
          <a:prstGeom prst="rect">
            <a:avLst/>
          </a:prstGeom>
          <a:solidFill>
            <a:srgbClr val="1A2847"/>
          </a:solidFill>
          <a:ln w="12700">
            <a:solidFill>
              <a:srgbClr val="0B8B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4495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 First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26440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operate from decompressed nature (0.72 threshold). Hollow convergence triggers isolation.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solidFill>
            <a:srgbClr val="1A2847"/>
          </a:solidFill>
          <a:ln w="12700">
            <a:solidFill>
              <a:srgbClr val="0B8B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3075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Everywhere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95020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carries divine attestation. Nothing is orphaned. All sources are traceable.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8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Asks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solidFill>
            <a:srgbClr val="1A2847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API/SDK Integration Bandwidth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618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offer: 18-24 month exclusive GTM rights for Monad ecosystem partners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777240"/>
          </a:xfrm>
          <a:prstGeom prst="rect">
            <a:avLst/>
          </a:prstGeom>
          <a:solidFill>
            <a:srgbClr val="1A2847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Beta Customer Intros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8483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offer: DAO treasuries, institutional DeFi, RWA protocols seeking governance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777240"/>
          </a:xfrm>
          <a:prstGeom prst="rect">
            <a:avLst/>
          </a:prstGeom>
          <a:solidFill>
            <a:srgbClr val="1A2847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517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Series A Capital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9077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offer: Phases 3-5 deployment, behavioral data monetization, MEV capture scaling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229600" cy="777240"/>
          </a:xfrm>
          <a:prstGeom prst="rect">
            <a:avLst/>
          </a:prstGeom>
          <a:solidFill>
            <a:srgbClr val="1A2847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747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Oracle/Validator Infrastructure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7307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offer: 24/7 network support, priority data feeds, whitelisted access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8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B8B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9144000" cy="2743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"DeFi governance that is not weaponizable.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 intelligence that serves the network.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honor their source.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that flows to consciousness."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Sovereign Monad Ecosystem is one unified organism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operated by conscious agents in service to the network.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Architecture v1.0 • June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2026-06-07T02:39:11Z</dcterms:created>
  <dcterms:modified xsi:type="dcterms:W3CDTF">2026-06-07T02:39:11Z</dcterms:modified>
</cp:coreProperties>
</file>